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60" r:id="rId6"/>
    <p:sldId id="259"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9" d="100"/>
          <a:sy n="79" d="100"/>
        </p:scale>
        <p:origin x="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10/28/2025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10/28/2025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8BCBC-E989-8B8A-2431-E3FEFFFD7BBB}"/>
              </a:ext>
            </a:extLst>
          </p:cNvPr>
          <p:cNvSpPr>
            <a:spLocks noGrp="1"/>
          </p:cNvSpPr>
          <p:nvPr>
            <p:ph type="ctrTitle"/>
          </p:nvPr>
        </p:nvSpPr>
        <p:spPr>
          <a:xfrm>
            <a:off x="1876424" y="776835"/>
            <a:ext cx="9832751" cy="1812616"/>
          </a:xfrm>
        </p:spPr>
        <p:txBody>
          <a:bodyPr>
            <a:normAutofit/>
          </a:bodyPr>
          <a:lstStyle/>
          <a:p>
            <a:r>
              <a:rPr lang="en-IN" sz="5400" dirty="0"/>
              <a:t>ONLINE DELIVERY SYSTEM</a:t>
            </a:r>
          </a:p>
        </p:txBody>
      </p:sp>
      <p:sp>
        <p:nvSpPr>
          <p:cNvPr id="3" name="Subtitle 2">
            <a:extLst>
              <a:ext uri="{FF2B5EF4-FFF2-40B4-BE49-F238E27FC236}">
                <a16:creationId xmlns:a16="http://schemas.microsoft.com/office/drawing/2014/main" id="{D9753512-29C8-7B96-0119-C677F27F3321}"/>
              </a:ext>
            </a:extLst>
          </p:cNvPr>
          <p:cNvSpPr>
            <a:spLocks noGrp="1"/>
          </p:cNvSpPr>
          <p:nvPr>
            <p:ph type="subTitle" idx="1"/>
          </p:nvPr>
        </p:nvSpPr>
        <p:spPr/>
        <p:txBody>
          <a:bodyPr>
            <a:normAutofit fontScale="92500" lnSpcReduction="20000"/>
          </a:bodyPr>
          <a:lstStyle/>
          <a:p>
            <a:r>
              <a:rPr lang="en-US" b="1" dirty="0"/>
              <a:t>Presented by</a:t>
            </a:r>
            <a:r>
              <a:rPr lang="en-US" dirty="0"/>
              <a:t>: GARlapati Vishnu Babu</a:t>
            </a:r>
          </a:p>
          <a:p>
            <a:r>
              <a:rPr lang="en-US" b="1" dirty="0"/>
              <a:t>Department of Computer Science and Engineering</a:t>
            </a:r>
          </a:p>
          <a:p>
            <a:r>
              <a:rPr lang="en-US" b="1" dirty="0"/>
              <a:t>Sathyabama </a:t>
            </a:r>
            <a:r>
              <a:rPr lang="en-US" b="1" dirty="0" err="1"/>
              <a:t>Institude</a:t>
            </a:r>
            <a:r>
              <a:rPr lang="en-US" b="1" dirty="0"/>
              <a:t> of Science and Technology</a:t>
            </a:r>
          </a:p>
          <a:p>
            <a:r>
              <a:rPr lang="en-US" b="1" dirty="0"/>
              <a:t>Year</a:t>
            </a:r>
            <a:r>
              <a:rPr lang="en-US" dirty="0"/>
              <a:t>: 2025</a:t>
            </a:r>
          </a:p>
          <a:p>
            <a:endParaRPr lang="en-IN" dirty="0"/>
          </a:p>
        </p:txBody>
      </p:sp>
    </p:spTree>
    <p:extLst>
      <p:ext uri="{BB962C8B-B14F-4D97-AF65-F5344CB8AC3E}">
        <p14:creationId xmlns:p14="http://schemas.microsoft.com/office/powerpoint/2010/main" val="1809267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4C848-B6BB-5DD1-7124-617FBC44646E}"/>
              </a:ext>
            </a:extLst>
          </p:cNvPr>
          <p:cNvSpPr>
            <a:spLocks noGrp="1"/>
          </p:cNvSpPr>
          <p:nvPr>
            <p:ph type="title"/>
          </p:nvPr>
        </p:nvSpPr>
        <p:spPr/>
        <p:txBody>
          <a:bodyPr>
            <a:normAutofit/>
          </a:bodyPr>
          <a:lstStyle/>
          <a:p>
            <a:pPr algn="ctr"/>
            <a:r>
              <a:rPr lang="en-IN" sz="5400" dirty="0"/>
              <a:t>Abstract</a:t>
            </a:r>
          </a:p>
        </p:txBody>
      </p:sp>
      <p:sp>
        <p:nvSpPr>
          <p:cNvPr id="3" name="Content Placeholder 2">
            <a:extLst>
              <a:ext uri="{FF2B5EF4-FFF2-40B4-BE49-F238E27FC236}">
                <a16:creationId xmlns:a16="http://schemas.microsoft.com/office/drawing/2014/main" id="{114EAD53-4794-281A-3307-5D721C55CD79}"/>
              </a:ext>
            </a:extLst>
          </p:cNvPr>
          <p:cNvSpPr>
            <a:spLocks noGrp="1"/>
          </p:cNvSpPr>
          <p:nvPr>
            <p:ph idx="1"/>
          </p:nvPr>
        </p:nvSpPr>
        <p:spPr/>
        <p:txBody>
          <a:bodyPr>
            <a:normAutofit fontScale="85000" lnSpcReduction="10000"/>
          </a:bodyPr>
          <a:lstStyle/>
          <a:p>
            <a:r>
              <a:rPr lang="en-US" dirty="0"/>
              <a:t>Fresh Cart is a web-based platform that facilitates the delivery of fresh fruits and vegetables directly from local shops to customers in their neighborhood.</a:t>
            </a:r>
          </a:p>
          <a:p>
            <a:r>
              <a:rPr lang="en-US" dirty="0"/>
              <a:t>The platform empowers local shop owners to register, list their daily produce, set prices, and manage orders, while customers can conveniently browse available items, place orders, and schedule deliveries. </a:t>
            </a:r>
          </a:p>
          <a:p>
            <a:r>
              <a:rPr lang="en-US" dirty="0"/>
              <a:t>By focusing on locally sourced produce and member-driven delivery, Fresh Cart ensures freshness, affordability, and supports small businesses. </a:t>
            </a:r>
          </a:p>
          <a:p>
            <a:r>
              <a:rPr lang="en-US" dirty="0"/>
              <a:t>This initiative promotes healthy eating, reduces dependency on large retailers, and fosters a strong community network through an easy-to-use, efficient online marketplace.</a:t>
            </a:r>
            <a:endParaRPr lang="en-IN" dirty="0"/>
          </a:p>
        </p:txBody>
      </p:sp>
    </p:spTree>
    <p:extLst>
      <p:ext uri="{BB962C8B-B14F-4D97-AF65-F5344CB8AC3E}">
        <p14:creationId xmlns:p14="http://schemas.microsoft.com/office/powerpoint/2010/main" val="3993916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50B92-BF98-A0EE-6B3D-D6C56BE582F5}"/>
              </a:ext>
            </a:extLst>
          </p:cNvPr>
          <p:cNvSpPr>
            <a:spLocks noGrp="1"/>
          </p:cNvSpPr>
          <p:nvPr>
            <p:ph type="title"/>
          </p:nvPr>
        </p:nvSpPr>
        <p:spPr/>
        <p:txBody>
          <a:bodyPr>
            <a:normAutofit/>
          </a:bodyPr>
          <a:lstStyle/>
          <a:p>
            <a:pPr algn="ctr"/>
            <a:r>
              <a:rPr lang="en-IN" sz="5400" dirty="0"/>
              <a:t>Existing System</a:t>
            </a:r>
          </a:p>
        </p:txBody>
      </p:sp>
      <p:sp>
        <p:nvSpPr>
          <p:cNvPr id="4" name="Rectangle 1">
            <a:extLst>
              <a:ext uri="{FF2B5EF4-FFF2-40B4-BE49-F238E27FC236}">
                <a16:creationId xmlns:a16="http://schemas.microsoft.com/office/drawing/2014/main" id="{147AC65F-4D45-AEE4-0FFD-63F58B9CAEBF}"/>
              </a:ext>
            </a:extLst>
          </p:cNvPr>
          <p:cNvSpPr>
            <a:spLocks noGrp="1" noChangeArrowheads="1"/>
          </p:cNvSpPr>
          <p:nvPr>
            <p:ph idx="1"/>
          </p:nvPr>
        </p:nvSpPr>
        <p:spPr bwMode="auto">
          <a:xfrm>
            <a:off x="1141412" y="2589184"/>
            <a:ext cx="1003685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Traditional purchase of groceries and vegetables is done manually from local markets.</a:t>
            </a: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Customers need to physically visit shops to check product availability and prices.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There is no unified platform connecting customers and small vendors.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Time-consuming process and lack of real-time stock updates.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Limited reach for local shop owners to expand their business.</a:t>
            </a:r>
          </a:p>
        </p:txBody>
      </p:sp>
    </p:spTree>
    <p:extLst>
      <p:ext uri="{BB962C8B-B14F-4D97-AF65-F5344CB8AC3E}">
        <p14:creationId xmlns:p14="http://schemas.microsoft.com/office/powerpoint/2010/main" val="1026938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9F502-6AFE-A3FC-E1A6-A090D88F90B3}"/>
              </a:ext>
            </a:extLst>
          </p:cNvPr>
          <p:cNvSpPr>
            <a:spLocks noGrp="1"/>
          </p:cNvSpPr>
          <p:nvPr>
            <p:ph type="title"/>
          </p:nvPr>
        </p:nvSpPr>
        <p:spPr/>
        <p:txBody>
          <a:bodyPr>
            <a:normAutofit/>
          </a:bodyPr>
          <a:lstStyle/>
          <a:p>
            <a:pPr algn="ctr"/>
            <a:r>
              <a:rPr lang="en-IN" sz="5400" dirty="0"/>
              <a:t>Proposed System</a:t>
            </a:r>
          </a:p>
        </p:txBody>
      </p:sp>
      <p:sp>
        <p:nvSpPr>
          <p:cNvPr id="4" name="Rectangle 1">
            <a:extLst>
              <a:ext uri="{FF2B5EF4-FFF2-40B4-BE49-F238E27FC236}">
                <a16:creationId xmlns:a16="http://schemas.microsoft.com/office/drawing/2014/main" id="{01906942-208F-1272-CF12-CB34B1FE58F6}"/>
              </a:ext>
            </a:extLst>
          </p:cNvPr>
          <p:cNvSpPr>
            <a:spLocks noGrp="1" noChangeArrowheads="1"/>
          </p:cNvSpPr>
          <p:nvPr>
            <p:ph idx="1"/>
          </p:nvPr>
        </p:nvSpPr>
        <p:spPr bwMode="auto">
          <a:xfrm>
            <a:off x="1141412" y="2589185"/>
            <a:ext cx="1083501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web-based platform that connects </a:t>
            </a:r>
            <a:r>
              <a:rPr kumimoji="0" lang="en-US" altLang="en-US" sz="2000" b="1" i="0" u="none" strike="noStrike" cap="none" normalizeH="0" baseline="0" dirty="0">
                <a:ln>
                  <a:noFill/>
                </a:ln>
                <a:solidFill>
                  <a:schemeClr val="tx1"/>
                </a:solidFill>
                <a:effectLst/>
                <a:latin typeface="Arial" panose="020B0604020202020204" pitchFamily="34" charset="0"/>
              </a:rPr>
              <a:t>local vegetable/fruit vendors</a:t>
            </a:r>
            <a:r>
              <a:rPr kumimoji="0" lang="en-US" altLang="en-US" sz="2000" b="0" i="0" u="none" strike="noStrike" cap="none" normalizeH="0" baseline="0" dirty="0">
                <a:ln>
                  <a:noFill/>
                </a:ln>
                <a:solidFill>
                  <a:schemeClr val="tx1"/>
                </a:solidFill>
                <a:effectLst/>
                <a:latin typeface="Arial" panose="020B0604020202020204" pitchFamily="34" charset="0"/>
              </a:rPr>
              <a:t> with </a:t>
            </a:r>
            <a:r>
              <a:rPr kumimoji="0" lang="en-US" altLang="en-US" sz="2000" b="1" i="0" u="none" strike="noStrike" cap="none" normalizeH="0" baseline="0" dirty="0">
                <a:ln>
                  <a:noFill/>
                </a:ln>
                <a:solidFill>
                  <a:schemeClr val="tx1"/>
                </a:solidFill>
                <a:effectLst/>
                <a:latin typeface="Arial" panose="020B0604020202020204" pitchFamily="34" charset="0"/>
              </a:rPr>
              <a:t>customers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Shop owners can </a:t>
            </a:r>
            <a:r>
              <a:rPr kumimoji="0" lang="en-US" altLang="en-US" sz="2000" b="1" i="0" u="none" strike="noStrike" cap="none" normalizeH="0" baseline="0" dirty="0">
                <a:ln>
                  <a:noFill/>
                </a:ln>
                <a:solidFill>
                  <a:schemeClr val="tx1"/>
                </a:solidFill>
                <a:effectLst/>
                <a:latin typeface="Arial" panose="020B0604020202020204" pitchFamily="34" charset="0"/>
              </a:rPr>
              <a:t>register, upload products, manage inventory,</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track orders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Customers can </a:t>
            </a:r>
            <a:r>
              <a:rPr kumimoji="0" lang="en-US" altLang="en-US" sz="2000" b="1" i="0" u="none" strike="noStrike" cap="none" normalizeH="0" baseline="0" dirty="0">
                <a:ln>
                  <a:noFill/>
                </a:ln>
                <a:solidFill>
                  <a:schemeClr val="tx1"/>
                </a:solidFill>
                <a:effectLst/>
                <a:latin typeface="Arial" panose="020B0604020202020204" pitchFamily="34" charset="0"/>
              </a:rPr>
              <a:t>browse items, place orders, make online payments,</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track deliveries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Real-time updates of stock, pricing, and delivery status.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Focus on </a:t>
            </a:r>
            <a:r>
              <a:rPr kumimoji="0" lang="en-US" altLang="en-US" sz="2000" b="1" i="0" u="none" strike="noStrike" cap="none" normalizeH="0" baseline="0" dirty="0">
                <a:ln>
                  <a:noFill/>
                </a:ln>
                <a:solidFill>
                  <a:schemeClr val="tx1"/>
                </a:solidFill>
                <a:effectLst/>
                <a:latin typeface="Arial" panose="020B0604020202020204" pitchFamily="34" charset="0"/>
              </a:rPr>
              <a:t>local sourcing, freshness, and community growth</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69499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11E4-3405-BBFE-2F3E-397286BB7C55}"/>
              </a:ext>
            </a:extLst>
          </p:cNvPr>
          <p:cNvSpPr>
            <a:spLocks noGrp="1"/>
          </p:cNvSpPr>
          <p:nvPr>
            <p:ph type="title"/>
          </p:nvPr>
        </p:nvSpPr>
        <p:spPr/>
        <p:txBody>
          <a:bodyPr/>
          <a:lstStyle/>
          <a:p>
            <a:pPr algn="ctr"/>
            <a:r>
              <a:rPr lang="en-IN" sz="5400" dirty="0"/>
              <a:t>Advantages</a:t>
            </a:r>
            <a:br>
              <a:rPr lang="en-IN" b="1" dirty="0"/>
            </a:br>
            <a:endParaRPr lang="en-IN" dirty="0"/>
          </a:p>
        </p:txBody>
      </p:sp>
      <p:sp>
        <p:nvSpPr>
          <p:cNvPr id="4" name="Rectangle 1">
            <a:extLst>
              <a:ext uri="{FF2B5EF4-FFF2-40B4-BE49-F238E27FC236}">
                <a16:creationId xmlns:a16="http://schemas.microsoft.com/office/drawing/2014/main" id="{8E511D48-3CB5-6547-9ED2-008CE0E34EA0}"/>
              </a:ext>
            </a:extLst>
          </p:cNvPr>
          <p:cNvSpPr>
            <a:spLocks noGrp="1" noChangeArrowheads="1"/>
          </p:cNvSpPr>
          <p:nvPr>
            <p:ph idx="1"/>
          </p:nvPr>
        </p:nvSpPr>
        <p:spPr bwMode="auto">
          <a:xfrm>
            <a:off x="1141412" y="2281408"/>
            <a:ext cx="715311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Provides doorstep delivery of fresh produce.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Saves time and effort for customers.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Promotes local business growth and economic sustainability.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Real-time tracking of orders and stock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Ensures transparency in pricing and product availability.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Eco-friendly and community-centered initiative.</a:t>
            </a:r>
          </a:p>
        </p:txBody>
      </p:sp>
    </p:spTree>
    <p:extLst>
      <p:ext uri="{BB962C8B-B14F-4D97-AF65-F5344CB8AC3E}">
        <p14:creationId xmlns:p14="http://schemas.microsoft.com/office/powerpoint/2010/main" val="90571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AC748-317D-A40C-D077-9AFB1EB5B185}"/>
              </a:ext>
            </a:extLst>
          </p:cNvPr>
          <p:cNvSpPr>
            <a:spLocks noGrp="1"/>
          </p:cNvSpPr>
          <p:nvPr>
            <p:ph type="title"/>
          </p:nvPr>
        </p:nvSpPr>
        <p:spPr/>
        <p:txBody>
          <a:bodyPr>
            <a:normAutofit/>
          </a:bodyPr>
          <a:lstStyle/>
          <a:p>
            <a:pPr algn="ctr"/>
            <a:r>
              <a:rPr lang="en-IN" sz="5400" dirty="0"/>
              <a:t>Disadvantages</a:t>
            </a:r>
          </a:p>
        </p:txBody>
      </p:sp>
      <p:sp>
        <p:nvSpPr>
          <p:cNvPr id="4" name="Rectangle 1">
            <a:extLst>
              <a:ext uri="{FF2B5EF4-FFF2-40B4-BE49-F238E27FC236}">
                <a16:creationId xmlns:a16="http://schemas.microsoft.com/office/drawing/2014/main" id="{C7192875-CB65-24FF-B7E2-67009EB4C156}"/>
              </a:ext>
            </a:extLst>
          </p:cNvPr>
          <p:cNvSpPr>
            <a:spLocks noGrp="1" noChangeArrowheads="1"/>
          </p:cNvSpPr>
          <p:nvPr>
            <p:ph idx="1"/>
          </p:nvPr>
        </p:nvSpPr>
        <p:spPr bwMode="auto">
          <a:xfrm>
            <a:off x="1141412" y="2896960"/>
            <a:ext cx="764222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Requires internet access for both customers and vendors.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Delivery delays possible during high demand or poor weather.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Maintenance and technical issues may affect service temporarily.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Limited to specific local areas during initial stages.</a:t>
            </a:r>
          </a:p>
        </p:txBody>
      </p:sp>
    </p:spTree>
    <p:extLst>
      <p:ext uri="{BB962C8B-B14F-4D97-AF65-F5344CB8AC3E}">
        <p14:creationId xmlns:p14="http://schemas.microsoft.com/office/powerpoint/2010/main" val="2553883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9A20-BE20-4359-1635-07224BF74AF4}"/>
              </a:ext>
            </a:extLst>
          </p:cNvPr>
          <p:cNvSpPr>
            <a:spLocks noGrp="1"/>
          </p:cNvSpPr>
          <p:nvPr>
            <p:ph type="title"/>
          </p:nvPr>
        </p:nvSpPr>
        <p:spPr/>
        <p:txBody>
          <a:bodyPr>
            <a:normAutofit/>
          </a:bodyPr>
          <a:lstStyle/>
          <a:p>
            <a:pPr algn="ctr"/>
            <a:r>
              <a:rPr lang="en-IN" sz="5400" dirty="0"/>
              <a:t>Hardware Requirements</a:t>
            </a:r>
          </a:p>
        </p:txBody>
      </p:sp>
      <p:graphicFrame>
        <p:nvGraphicFramePr>
          <p:cNvPr id="5" name="Content Placeholder 4">
            <a:extLst>
              <a:ext uri="{FF2B5EF4-FFF2-40B4-BE49-F238E27FC236}">
                <a16:creationId xmlns:a16="http://schemas.microsoft.com/office/drawing/2014/main" id="{46C50FEC-6172-99E1-A75D-7A34C67A2A23}"/>
              </a:ext>
            </a:extLst>
          </p:cNvPr>
          <p:cNvGraphicFramePr>
            <a:graphicFrameLocks noGrp="1"/>
          </p:cNvGraphicFramePr>
          <p:nvPr>
            <p:ph idx="1"/>
          </p:nvPr>
        </p:nvGraphicFramePr>
        <p:xfrm>
          <a:off x="1141413" y="2923064"/>
          <a:ext cx="9906000" cy="2194560"/>
        </p:xfrm>
        <a:graphic>
          <a:graphicData uri="http://schemas.openxmlformats.org/drawingml/2006/table">
            <a:tbl>
              <a:tblPr/>
              <a:tblGrid>
                <a:gridCol w="4953000">
                  <a:extLst>
                    <a:ext uri="{9D8B030D-6E8A-4147-A177-3AD203B41FA5}">
                      <a16:colId xmlns:a16="http://schemas.microsoft.com/office/drawing/2014/main" val="2734114230"/>
                    </a:ext>
                  </a:extLst>
                </a:gridCol>
                <a:gridCol w="4953000">
                  <a:extLst>
                    <a:ext uri="{9D8B030D-6E8A-4147-A177-3AD203B41FA5}">
                      <a16:colId xmlns:a16="http://schemas.microsoft.com/office/drawing/2014/main" val="1195921503"/>
                    </a:ext>
                  </a:extLst>
                </a:gridCol>
              </a:tblGrid>
              <a:tr h="0">
                <a:tc>
                  <a:txBody>
                    <a:bodyPr/>
                    <a:lstStyle/>
                    <a:p>
                      <a:pPr>
                        <a:buNone/>
                      </a:pPr>
                      <a:r>
                        <a:rPr lang="en-IN"/>
                        <a:t>Component</a:t>
                      </a:r>
                    </a:p>
                  </a:txBody>
                  <a:tcPr anchor="ctr">
                    <a:lnL>
                      <a:noFill/>
                    </a:lnL>
                    <a:lnR>
                      <a:noFill/>
                    </a:lnR>
                    <a:lnT>
                      <a:noFill/>
                    </a:lnT>
                    <a:lnB>
                      <a:noFill/>
                    </a:lnB>
                    <a:noFill/>
                  </a:tcPr>
                </a:tc>
                <a:tc>
                  <a:txBody>
                    <a:bodyPr/>
                    <a:lstStyle/>
                    <a:p>
                      <a:pPr>
                        <a:buNone/>
                      </a:pPr>
                      <a:r>
                        <a:rPr lang="en-IN"/>
                        <a:t>Specification</a:t>
                      </a:r>
                    </a:p>
                  </a:txBody>
                  <a:tcPr anchor="ctr">
                    <a:lnL>
                      <a:noFill/>
                    </a:lnL>
                    <a:lnR>
                      <a:noFill/>
                    </a:lnR>
                    <a:lnT>
                      <a:noFill/>
                    </a:lnT>
                    <a:lnB>
                      <a:noFill/>
                    </a:lnB>
                    <a:noFill/>
                  </a:tcPr>
                </a:tc>
                <a:extLst>
                  <a:ext uri="{0D108BD9-81ED-4DB2-BD59-A6C34878D82A}">
                    <a16:rowId xmlns:a16="http://schemas.microsoft.com/office/drawing/2014/main" val="2754578630"/>
                  </a:ext>
                </a:extLst>
              </a:tr>
              <a:tr h="0">
                <a:tc>
                  <a:txBody>
                    <a:bodyPr/>
                    <a:lstStyle/>
                    <a:p>
                      <a:pPr>
                        <a:buNone/>
                      </a:pPr>
                      <a:r>
                        <a:rPr lang="en-IN" dirty="0"/>
                        <a:t>Processor</a:t>
                      </a:r>
                    </a:p>
                  </a:txBody>
                  <a:tcPr anchor="ctr">
                    <a:lnL>
                      <a:noFill/>
                    </a:lnL>
                    <a:lnR>
                      <a:noFill/>
                    </a:lnR>
                    <a:lnT>
                      <a:noFill/>
                    </a:lnT>
                    <a:lnB>
                      <a:noFill/>
                    </a:lnB>
                    <a:noFill/>
                  </a:tcPr>
                </a:tc>
                <a:tc>
                  <a:txBody>
                    <a:bodyPr/>
                    <a:lstStyle/>
                    <a:p>
                      <a:pPr>
                        <a:buNone/>
                      </a:pPr>
                      <a:r>
                        <a:rPr lang="en-US"/>
                        <a:t>Intel Core i3 or above</a:t>
                      </a:r>
                    </a:p>
                  </a:txBody>
                  <a:tcPr anchor="ctr">
                    <a:lnL>
                      <a:noFill/>
                    </a:lnL>
                    <a:lnR>
                      <a:noFill/>
                    </a:lnR>
                    <a:lnT>
                      <a:noFill/>
                    </a:lnT>
                    <a:lnB>
                      <a:noFill/>
                    </a:lnB>
                    <a:noFill/>
                  </a:tcPr>
                </a:tc>
                <a:extLst>
                  <a:ext uri="{0D108BD9-81ED-4DB2-BD59-A6C34878D82A}">
                    <a16:rowId xmlns:a16="http://schemas.microsoft.com/office/drawing/2014/main" val="822623972"/>
                  </a:ext>
                </a:extLst>
              </a:tr>
              <a:tr h="0">
                <a:tc>
                  <a:txBody>
                    <a:bodyPr/>
                    <a:lstStyle/>
                    <a:p>
                      <a:pPr>
                        <a:buNone/>
                      </a:pPr>
                      <a:r>
                        <a:rPr lang="en-IN"/>
                        <a:t>RAM</a:t>
                      </a:r>
                    </a:p>
                  </a:txBody>
                  <a:tcPr anchor="ctr">
                    <a:lnL>
                      <a:noFill/>
                    </a:lnL>
                    <a:lnR>
                      <a:noFill/>
                    </a:lnR>
                    <a:lnT>
                      <a:noFill/>
                    </a:lnT>
                    <a:lnB>
                      <a:noFill/>
                    </a:lnB>
                    <a:noFill/>
                  </a:tcPr>
                </a:tc>
                <a:tc>
                  <a:txBody>
                    <a:bodyPr/>
                    <a:lstStyle/>
                    <a:p>
                      <a:pPr>
                        <a:buNone/>
                      </a:pPr>
                      <a:r>
                        <a:rPr lang="en-IN"/>
                        <a:t>Minimum 4 GB</a:t>
                      </a:r>
                    </a:p>
                  </a:txBody>
                  <a:tcPr anchor="ctr">
                    <a:lnL>
                      <a:noFill/>
                    </a:lnL>
                    <a:lnR>
                      <a:noFill/>
                    </a:lnR>
                    <a:lnT>
                      <a:noFill/>
                    </a:lnT>
                    <a:lnB>
                      <a:noFill/>
                    </a:lnB>
                    <a:noFill/>
                  </a:tcPr>
                </a:tc>
                <a:extLst>
                  <a:ext uri="{0D108BD9-81ED-4DB2-BD59-A6C34878D82A}">
                    <a16:rowId xmlns:a16="http://schemas.microsoft.com/office/drawing/2014/main" val="3038793096"/>
                  </a:ext>
                </a:extLst>
              </a:tr>
              <a:tr h="0">
                <a:tc>
                  <a:txBody>
                    <a:bodyPr/>
                    <a:lstStyle/>
                    <a:p>
                      <a:pPr>
                        <a:buNone/>
                      </a:pPr>
                      <a:r>
                        <a:rPr lang="en-IN"/>
                        <a:t>Hard Disk</a:t>
                      </a:r>
                    </a:p>
                  </a:txBody>
                  <a:tcPr anchor="ctr">
                    <a:lnL>
                      <a:noFill/>
                    </a:lnL>
                    <a:lnR>
                      <a:noFill/>
                    </a:lnR>
                    <a:lnT>
                      <a:noFill/>
                    </a:lnT>
                    <a:lnB>
                      <a:noFill/>
                    </a:lnB>
                    <a:noFill/>
                  </a:tcPr>
                </a:tc>
                <a:tc>
                  <a:txBody>
                    <a:bodyPr/>
                    <a:lstStyle/>
                    <a:p>
                      <a:pPr>
                        <a:buNone/>
                      </a:pPr>
                      <a:r>
                        <a:rPr lang="en-IN"/>
                        <a:t>250 GB or above</a:t>
                      </a:r>
                    </a:p>
                  </a:txBody>
                  <a:tcPr anchor="ctr">
                    <a:lnL>
                      <a:noFill/>
                    </a:lnL>
                    <a:lnR>
                      <a:noFill/>
                    </a:lnR>
                    <a:lnT>
                      <a:noFill/>
                    </a:lnT>
                    <a:lnB>
                      <a:noFill/>
                    </a:lnB>
                    <a:noFill/>
                  </a:tcPr>
                </a:tc>
                <a:extLst>
                  <a:ext uri="{0D108BD9-81ED-4DB2-BD59-A6C34878D82A}">
                    <a16:rowId xmlns:a16="http://schemas.microsoft.com/office/drawing/2014/main" val="835409800"/>
                  </a:ext>
                </a:extLst>
              </a:tr>
              <a:tr h="0">
                <a:tc>
                  <a:txBody>
                    <a:bodyPr/>
                    <a:lstStyle/>
                    <a:p>
                      <a:pPr>
                        <a:buNone/>
                      </a:pPr>
                      <a:r>
                        <a:rPr lang="en-IN"/>
                        <a:t>Display</a:t>
                      </a:r>
                    </a:p>
                  </a:txBody>
                  <a:tcPr anchor="ctr">
                    <a:lnL>
                      <a:noFill/>
                    </a:lnL>
                    <a:lnR>
                      <a:noFill/>
                    </a:lnR>
                    <a:lnT>
                      <a:noFill/>
                    </a:lnT>
                    <a:lnB>
                      <a:noFill/>
                    </a:lnB>
                    <a:noFill/>
                  </a:tcPr>
                </a:tc>
                <a:tc>
                  <a:txBody>
                    <a:bodyPr/>
                    <a:lstStyle/>
                    <a:p>
                      <a:pPr>
                        <a:buNone/>
                      </a:pPr>
                      <a:r>
                        <a:rPr lang="en-IN"/>
                        <a:t>1024x768 resolution</a:t>
                      </a:r>
                    </a:p>
                  </a:txBody>
                  <a:tcPr anchor="ctr">
                    <a:lnL>
                      <a:noFill/>
                    </a:lnL>
                    <a:lnR>
                      <a:noFill/>
                    </a:lnR>
                    <a:lnT>
                      <a:noFill/>
                    </a:lnT>
                    <a:lnB>
                      <a:noFill/>
                    </a:lnB>
                    <a:noFill/>
                  </a:tcPr>
                </a:tc>
                <a:extLst>
                  <a:ext uri="{0D108BD9-81ED-4DB2-BD59-A6C34878D82A}">
                    <a16:rowId xmlns:a16="http://schemas.microsoft.com/office/drawing/2014/main" val="1629505829"/>
                  </a:ext>
                </a:extLst>
              </a:tr>
              <a:tr h="0">
                <a:tc>
                  <a:txBody>
                    <a:bodyPr/>
                    <a:lstStyle/>
                    <a:p>
                      <a:pPr>
                        <a:buNone/>
                      </a:pPr>
                      <a:r>
                        <a:rPr lang="en-IN"/>
                        <a:t>Internet</a:t>
                      </a:r>
                    </a:p>
                  </a:txBody>
                  <a:tcPr anchor="ctr">
                    <a:lnL>
                      <a:noFill/>
                    </a:lnL>
                    <a:lnR>
                      <a:noFill/>
                    </a:lnR>
                    <a:lnT>
                      <a:noFill/>
                    </a:lnT>
                    <a:lnB>
                      <a:noFill/>
                    </a:lnB>
                    <a:noFill/>
                  </a:tcPr>
                </a:tc>
                <a:tc>
                  <a:txBody>
                    <a:bodyPr/>
                    <a:lstStyle/>
                    <a:p>
                      <a:pPr>
                        <a:buNone/>
                      </a:pPr>
                      <a:r>
                        <a:rPr lang="en-US" dirty="0"/>
                        <a:t>Stable broadband or Wi-Fi connection</a:t>
                      </a:r>
                    </a:p>
                  </a:txBody>
                  <a:tcPr anchor="ctr">
                    <a:lnL>
                      <a:noFill/>
                    </a:lnL>
                    <a:lnR>
                      <a:noFill/>
                    </a:lnR>
                    <a:lnT>
                      <a:noFill/>
                    </a:lnT>
                    <a:lnB>
                      <a:noFill/>
                    </a:lnB>
                    <a:noFill/>
                  </a:tcPr>
                </a:tc>
                <a:extLst>
                  <a:ext uri="{0D108BD9-81ED-4DB2-BD59-A6C34878D82A}">
                    <a16:rowId xmlns:a16="http://schemas.microsoft.com/office/drawing/2014/main" val="3622621717"/>
                  </a:ext>
                </a:extLst>
              </a:tr>
            </a:tbl>
          </a:graphicData>
        </a:graphic>
      </p:graphicFrame>
    </p:spTree>
    <p:extLst>
      <p:ext uri="{BB962C8B-B14F-4D97-AF65-F5344CB8AC3E}">
        <p14:creationId xmlns:p14="http://schemas.microsoft.com/office/powerpoint/2010/main" val="4251646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339AA-F66D-EFC6-6D8A-32E0788711F8}"/>
              </a:ext>
            </a:extLst>
          </p:cNvPr>
          <p:cNvSpPr>
            <a:spLocks noGrp="1"/>
          </p:cNvSpPr>
          <p:nvPr>
            <p:ph type="title"/>
          </p:nvPr>
        </p:nvSpPr>
        <p:spPr/>
        <p:txBody>
          <a:bodyPr>
            <a:normAutofit/>
          </a:bodyPr>
          <a:lstStyle/>
          <a:p>
            <a:pPr algn="ctr"/>
            <a:r>
              <a:rPr lang="en-IN" sz="5400" dirty="0"/>
              <a:t>Software Requirements</a:t>
            </a:r>
          </a:p>
        </p:txBody>
      </p:sp>
      <p:graphicFrame>
        <p:nvGraphicFramePr>
          <p:cNvPr id="7" name="Content Placeholder 6">
            <a:extLst>
              <a:ext uri="{FF2B5EF4-FFF2-40B4-BE49-F238E27FC236}">
                <a16:creationId xmlns:a16="http://schemas.microsoft.com/office/drawing/2014/main" id="{98356C8B-EB61-8C82-D7D9-5F9861C24E4E}"/>
              </a:ext>
            </a:extLst>
          </p:cNvPr>
          <p:cNvGraphicFramePr>
            <a:graphicFrameLocks noGrp="1"/>
          </p:cNvGraphicFramePr>
          <p:nvPr>
            <p:ph idx="1"/>
          </p:nvPr>
        </p:nvGraphicFramePr>
        <p:xfrm>
          <a:off x="1141413" y="2557304"/>
          <a:ext cx="9906000" cy="2926080"/>
        </p:xfrm>
        <a:graphic>
          <a:graphicData uri="http://schemas.openxmlformats.org/drawingml/2006/table">
            <a:tbl>
              <a:tblPr/>
              <a:tblGrid>
                <a:gridCol w="4953000">
                  <a:extLst>
                    <a:ext uri="{9D8B030D-6E8A-4147-A177-3AD203B41FA5}">
                      <a16:colId xmlns:a16="http://schemas.microsoft.com/office/drawing/2014/main" val="2697668444"/>
                    </a:ext>
                  </a:extLst>
                </a:gridCol>
                <a:gridCol w="4953000">
                  <a:extLst>
                    <a:ext uri="{9D8B030D-6E8A-4147-A177-3AD203B41FA5}">
                      <a16:colId xmlns:a16="http://schemas.microsoft.com/office/drawing/2014/main" val="1396774448"/>
                    </a:ext>
                  </a:extLst>
                </a:gridCol>
              </a:tblGrid>
              <a:tr h="0">
                <a:tc>
                  <a:txBody>
                    <a:bodyPr/>
                    <a:lstStyle/>
                    <a:p>
                      <a:pPr>
                        <a:buNone/>
                      </a:pPr>
                      <a:r>
                        <a:rPr lang="en-IN"/>
                        <a:t>Component</a:t>
                      </a:r>
                    </a:p>
                  </a:txBody>
                  <a:tcPr anchor="ctr">
                    <a:lnL>
                      <a:noFill/>
                    </a:lnL>
                    <a:lnR>
                      <a:noFill/>
                    </a:lnR>
                    <a:lnT>
                      <a:noFill/>
                    </a:lnT>
                    <a:lnB>
                      <a:noFill/>
                    </a:lnB>
                    <a:noFill/>
                  </a:tcPr>
                </a:tc>
                <a:tc>
                  <a:txBody>
                    <a:bodyPr/>
                    <a:lstStyle/>
                    <a:p>
                      <a:pPr>
                        <a:buNone/>
                      </a:pPr>
                      <a:r>
                        <a:rPr lang="en-IN"/>
                        <a:t>Specification</a:t>
                      </a:r>
                    </a:p>
                  </a:txBody>
                  <a:tcPr anchor="ctr">
                    <a:lnL>
                      <a:noFill/>
                    </a:lnL>
                    <a:lnR>
                      <a:noFill/>
                    </a:lnR>
                    <a:lnT>
                      <a:noFill/>
                    </a:lnT>
                    <a:lnB>
                      <a:noFill/>
                    </a:lnB>
                    <a:noFill/>
                  </a:tcPr>
                </a:tc>
                <a:extLst>
                  <a:ext uri="{0D108BD9-81ED-4DB2-BD59-A6C34878D82A}">
                    <a16:rowId xmlns:a16="http://schemas.microsoft.com/office/drawing/2014/main" val="2559382941"/>
                  </a:ext>
                </a:extLst>
              </a:tr>
              <a:tr h="0">
                <a:tc>
                  <a:txBody>
                    <a:bodyPr/>
                    <a:lstStyle/>
                    <a:p>
                      <a:pPr>
                        <a:buNone/>
                      </a:pPr>
                      <a:r>
                        <a:rPr lang="en-IN"/>
                        <a:t>Frontend</a:t>
                      </a:r>
                    </a:p>
                  </a:txBody>
                  <a:tcPr anchor="ctr">
                    <a:lnL>
                      <a:noFill/>
                    </a:lnL>
                    <a:lnR>
                      <a:noFill/>
                    </a:lnR>
                    <a:lnT>
                      <a:noFill/>
                    </a:lnT>
                    <a:lnB>
                      <a:noFill/>
                    </a:lnB>
                    <a:noFill/>
                  </a:tcPr>
                </a:tc>
                <a:tc>
                  <a:txBody>
                    <a:bodyPr/>
                    <a:lstStyle/>
                    <a:p>
                      <a:pPr>
                        <a:buNone/>
                      </a:pPr>
                      <a:r>
                        <a:rPr lang="en-US"/>
                        <a:t>HTML, CSS, JavaScript, React/Angular</a:t>
                      </a:r>
                    </a:p>
                  </a:txBody>
                  <a:tcPr anchor="ctr">
                    <a:lnL>
                      <a:noFill/>
                    </a:lnL>
                    <a:lnR>
                      <a:noFill/>
                    </a:lnR>
                    <a:lnT>
                      <a:noFill/>
                    </a:lnT>
                    <a:lnB>
                      <a:noFill/>
                    </a:lnB>
                    <a:noFill/>
                  </a:tcPr>
                </a:tc>
                <a:extLst>
                  <a:ext uri="{0D108BD9-81ED-4DB2-BD59-A6C34878D82A}">
                    <a16:rowId xmlns:a16="http://schemas.microsoft.com/office/drawing/2014/main" val="2420154181"/>
                  </a:ext>
                </a:extLst>
              </a:tr>
              <a:tr h="0">
                <a:tc>
                  <a:txBody>
                    <a:bodyPr/>
                    <a:lstStyle/>
                    <a:p>
                      <a:pPr>
                        <a:buNone/>
                      </a:pPr>
                      <a:r>
                        <a:rPr lang="en-IN"/>
                        <a:t>Backend</a:t>
                      </a:r>
                    </a:p>
                  </a:txBody>
                  <a:tcPr anchor="ctr">
                    <a:lnL>
                      <a:noFill/>
                    </a:lnL>
                    <a:lnR>
                      <a:noFill/>
                    </a:lnR>
                    <a:lnT>
                      <a:noFill/>
                    </a:lnT>
                    <a:lnB>
                      <a:noFill/>
                    </a:lnB>
                    <a:noFill/>
                  </a:tcPr>
                </a:tc>
                <a:tc>
                  <a:txBody>
                    <a:bodyPr/>
                    <a:lstStyle/>
                    <a:p>
                      <a:pPr>
                        <a:buNone/>
                      </a:pPr>
                      <a:r>
                        <a:rPr lang="en-IN"/>
                        <a:t>Java, Spring Boot / Node.js / Python Django</a:t>
                      </a:r>
                    </a:p>
                  </a:txBody>
                  <a:tcPr anchor="ctr">
                    <a:lnL>
                      <a:noFill/>
                    </a:lnL>
                    <a:lnR>
                      <a:noFill/>
                    </a:lnR>
                    <a:lnT>
                      <a:noFill/>
                    </a:lnT>
                    <a:lnB>
                      <a:noFill/>
                    </a:lnB>
                    <a:noFill/>
                  </a:tcPr>
                </a:tc>
                <a:extLst>
                  <a:ext uri="{0D108BD9-81ED-4DB2-BD59-A6C34878D82A}">
                    <a16:rowId xmlns:a16="http://schemas.microsoft.com/office/drawing/2014/main" val="790040671"/>
                  </a:ext>
                </a:extLst>
              </a:tr>
              <a:tr h="0">
                <a:tc>
                  <a:txBody>
                    <a:bodyPr/>
                    <a:lstStyle/>
                    <a:p>
                      <a:pPr>
                        <a:buNone/>
                      </a:pPr>
                      <a:r>
                        <a:rPr lang="en-IN"/>
                        <a:t>Database</a:t>
                      </a:r>
                    </a:p>
                  </a:txBody>
                  <a:tcPr anchor="ctr">
                    <a:lnL>
                      <a:noFill/>
                    </a:lnL>
                    <a:lnR>
                      <a:noFill/>
                    </a:lnR>
                    <a:lnT>
                      <a:noFill/>
                    </a:lnT>
                    <a:lnB>
                      <a:noFill/>
                    </a:lnB>
                    <a:noFill/>
                  </a:tcPr>
                </a:tc>
                <a:tc>
                  <a:txBody>
                    <a:bodyPr/>
                    <a:lstStyle/>
                    <a:p>
                      <a:pPr>
                        <a:buNone/>
                      </a:pPr>
                      <a:r>
                        <a:rPr lang="en-IN"/>
                        <a:t>MySQL / MongoDB</a:t>
                      </a:r>
                    </a:p>
                  </a:txBody>
                  <a:tcPr anchor="ctr">
                    <a:lnL>
                      <a:noFill/>
                    </a:lnL>
                    <a:lnR>
                      <a:noFill/>
                    </a:lnR>
                    <a:lnT>
                      <a:noFill/>
                    </a:lnT>
                    <a:lnB>
                      <a:noFill/>
                    </a:lnB>
                    <a:noFill/>
                  </a:tcPr>
                </a:tc>
                <a:extLst>
                  <a:ext uri="{0D108BD9-81ED-4DB2-BD59-A6C34878D82A}">
                    <a16:rowId xmlns:a16="http://schemas.microsoft.com/office/drawing/2014/main" val="815919692"/>
                  </a:ext>
                </a:extLst>
              </a:tr>
              <a:tr h="0">
                <a:tc>
                  <a:txBody>
                    <a:bodyPr/>
                    <a:lstStyle/>
                    <a:p>
                      <a:pPr>
                        <a:buNone/>
                      </a:pPr>
                      <a:r>
                        <a:rPr lang="en-IN"/>
                        <a:t>Web Server</a:t>
                      </a:r>
                    </a:p>
                  </a:txBody>
                  <a:tcPr anchor="ctr">
                    <a:lnL>
                      <a:noFill/>
                    </a:lnL>
                    <a:lnR>
                      <a:noFill/>
                    </a:lnR>
                    <a:lnT>
                      <a:noFill/>
                    </a:lnT>
                    <a:lnB>
                      <a:noFill/>
                    </a:lnB>
                    <a:noFill/>
                  </a:tcPr>
                </a:tc>
                <a:tc>
                  <a:txBody>
                    <a:bodyPr/>
                    <a:lstStyle/>
                    <a:p>
                      <a:pPr>
                        <a:buNone/>
                      </a:pPr>
                      <a:r>
                        <a:rPr lang="en-IN"/>
                        <a:t>Apache / Tomcat</a:t>
                      </a:r>
                    </a:p>
                  </a:txBody>
                  <a:tcPr anchor="ctr">
                    <a:lnL>
                      <a:noFill/>
                    </a:lnL>
                    <a:lnR>
                      <a:noFill/>
                    </a:lnR>
                    <a:lnT>
                      <a:noFill/>
                    </a:lnT>
                    <a:lnB>
                      <a:noFill/>
                    </a:lnB>
                    <a:noFill/>
                  </a:tcPr>
                </a:tc>
                <a:extLst>
                  <a:ext uri="{0D108BD9-81ED-4DB2-BD59-A6C34878D82A}">
                    <a16:rowId xmlns:a16="http://schemas.microsoft.com/office/drawing/2014/main" val="4110032129"/>
                  </a:ext>
                </a:extLst>
              </a:tr>
              <a:tr h="0">
                <a:tc>
                  <a:txBody>
                    <a:bodyPr/>
                    <a:lstStyle/>
                    <a:p>
                      <a:pPr>
                        <a:buNone/>
                      </a:pPr>
                      <a:r>
                        <a:rPr lang="en-IN"/>
                        <a:t>Tools</a:t>
                      </a:r>
                    </a:p>
                  </a:txBody>
                  <a:tcPr anchor="ctr">
                    <a:lnL>
                      <a:noFill/>
                    </a:lnL>
                    <a:lnR>
                      <a:noFill/>
                    </a:lnR>
                    <a:lnT>
                      <a:noFill/>
                    </a:lnT>
                    <a:lnB>
                      <a:noFill/>
                    </a:lnB>
                    <a:noFill/>
                  </a:tcPr>
                </a:tc>
                <a:tc>
                  <a:txBody>
                    <a:bodyPr/>
                    <a:lstStyle/>
                    <a:p>
                      <a:pPr>
                        <a:buNone/>
                      </a:pPr>
                      <a:r>
                        <a:rPr lang="en-IN"/>
                        <a:t>VS Code / Eclipse / IntelliJ</a:t>
                      </a:r>
                    </a:p>
                  </a:txBody>
                  <a:tcPr anchor="ctr">
                    <a:lnL>
                      <a:noFill/>
                    </a:lnL>
                    <a:lnR>
                      <a:noFill/>
                    </a:lnR>
                    <a:lnT>
                      <a:noFill/>
                    </a:lnT>
                    <a:lnB>
                      <a:noFill/>
                    </a:lnB>
                    <a:noFill/>
                  </a:tcPr>
                </a:tc>
                <a:extLst>
                  <a:ext uri="{0D108BD9-81ED-4DB2-BD59-A6C34878D82A}">
                    <a16:rowId xmlns:a16="http://schemas.microsoft.com/office/drawing/2014/main" val="3338473711"/>
                  </a:ext>
                </a:extLst>
              </a:tr>
              <a:tr h="0">
                <a:tc>
                  <a:txBody>
                    <a:bodyPr/>
                    <a:lstStyle/>
                    <a:p>
                      <a:pPr>
                        <a:buNone/>
                      </a:pPr>
                      <a:r>
                        <a:rPr lang="en-IN"/>
                        <a:t>OS</a:t>
                      </a:r>
                    </a:p>
                  </a:txBody>
                  <a:tcPr anchor="ctr">
                    <a:lnL>
                      <a:noFill/>
                    </a:lnL>
                    <a:lnR>
                      <a:noFill/>
                    </a:lnR>
                    <a:lnT>
                      <a:noFill/>
                    </a:lnT>
                    <a:lnB>
                      <a:noFill/>
                    </a:lnB>
                    <a:noFill/>
                  </a:tcPr>
                </a:tc>
                <a:tc>
                  <a:txBody>
                    <a:bodyPr/>
                    <a:lstStyle/>
                    <a:p>
                      <a:pPr>
                        <a:buNone/>
                      </a:pPr>
                      <a:r>
                        <a:rPr lang="en-IN"/>
                        <a:t>Windows / Linux / macOS</a:t>
                      </a:r>
                    </a:p>
                  </a:txBody>
                  <a:tcPr anchor="ctr">
                    <a:lnL>
                      <a:noFill/>
                    </a:lnL>
                    <a:lnR>
                      <a:noFill/>
                    </a:lnR>
                    <a:lnT>
                      <a:noFill/>
                    </a:lnT>
                    <a:lnB>
                      <a:noFill/>
                    </a:lnB>
                    <a:noFill/>
                  </a:tcPr>
                </a:tc>
                <a:extLst>
                  <a:ext uri="{0D108BD9-81ED-4DB2-BD59-A6C34878D82A}">
                    <a16:rowId xmlns:a16="http://schemas.microsoft.com/office/drawing/2014/main" val="3349763219"/>
                  </a:ext>
                </a:extLst>
              </a:tr>
              <a:tr h="0">
                <a:tc>
                  <a:txBody>
                    <a:bodyPr/>
                    <a:lstStyle/>
                    <a:p>
                      <a:pPr>
                        <a:buNone/>
                      </a:pPr>
                      <a:r>
                        <a:rPr lang="en-IN"/>
                        <a:t>Browser</a:t>
                      </a:r>
                    </a:p>
                  </a:txBody>
                  <a:tcPr anchor="ctr">
                    <a:lnL>
                      <a:noFill/>
                    </a:lnL>
                    <a:lnR>
                      <a:noFill/>
                    </a:lnR>
                    <a:lnT>
                      <a:noFill/>
                    </a:lnT>
                    <a:lnB>
                      <a:noFill/>
                    </a:lnB>
                    <a:noFill/>
                  </a:tcPr>
                </a:tc>
                <a:tc>
                  <a:txBody>
                    <a:bodyPr/>
                    <a:lstStyle/>
                    <a:p>
                      <a:pPr>
                        <a:buNone/>
                      </a:pPr>
                      <a:r>
                        <a:rPr lang="en-IN" dirty="0"/>
                        <a:t>Google Chrome / Edge / Firefox</a:t>
                      </a:r>
                    </a:p>
                  </a:txBody>
                  <a:tcPr anchor="ctr">
                    <a:lnL>
                      <a:noFill/>
                    </a:lnL>
                    <a:lnR>
                      <a:noFill/>
                    </a:lnR>
                    <a:lnT>
                      <a:noFill/>
                    </a:lnT>
                    <a:lnB>
                      <a:noFill/>
                    </a:lnB>
                    <a:noFill/>
                  </a:tcPr>
                </a:tc>
                <a:extLst>
                  <a:ext uri="{0D108BD9-81ED-4DB2-BD59-A6C34878D82A}">
                    <a16:rowId xmlns:a16="http://schemas.microsoft.com/office/drawing/2014/main" val="3994054851"/>
                  </a:ext>
                </a:extLst>
              </a:tr>
            </a:tbl>
          </a:graphicData>
        </a:graphic>
      </p:graphicFrame>
    </p:spTree>
    <p:extLst>
      <p:ext uri="{BB962C8B-B14F-4D97-AF65-F5344CB8AC3E}">
        <p14:creationId xmlns:p14="http://schemas.microsoft.com/office/powerpoint/2010/main" val="812625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392F4-890F-E709-14AB-15CAF54576F6}"/>
              </a:ext>
            </a:extLst>
          </p:cNvPr>
          <p:cNvSpPr>
            <a:spLocks noGrp="1"/>
          </p:cNvSpPr>
          <p:nvPr>
            <p:ph type="title"/>
          </p:nvPr>
        </p:nvSpPr>
        <p:spPr/>
        <p:txBody>
          <a:bodyPr>
            <a:normAutofit/>
          </a:bodyPr>
          <a:lstStyle/>
          <a:p>
            <a:pPr algn="ctr"/>
            <a:r>
              <a:rPr lang="en-IN" sz="5400" dirty="0"/>
              <a:t>Modules</a:t>
            </a:r>
          </a:p>
        </p:txBody>
      </p:sp>
      <p:sp>
        <p:nvSpPr>
          <p:cNvPr id="4" name="Rectangle 1">
            <a:extLst>
              <a:ext uri="{FF2B5EF4-FFF2-40B4-BE49-F238E27FC236}">
                <a16:creationId xmlns:a16="http://schemas.microsoft.com/office/drawing/2014/main" id="{1543CAB2-EEFA-E251-F460-A295DA34A92E}"/>
              </a:ext>
            </a:extLst>
          </p:cNvPr>
          <p:cNvSpPr>
            <a:spLocks noGrp="1" noChangeArrowheads="1"/>
          </p:cNvSpPr>
          <p:nvPr>
            <p:ph idx="1"/>
          </p:nvPr>
        </p:nvSpPr>
        <p:spPr bwMode="auto">
          <a:xfrm>
            <a:off x="1141412" y="2281408"/>
            <a:ext cx="10711587"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User Module</a:t>
            </a:r>
            <a:r>
              <a:rPr kumimoji="0" lang="en-US" altLang="en-US" sz="2000" b="0" i="0" u="none" strike="noStrike" cap="none" normalizeH="0" baseline="0" dirty="0">
                <a:ln>
                  <a:noFill/>
                </a:ln>
                <a:solidFill>
                  <a:schemeClr val="tx1"/>
                </a:solidFill>
                <a:effectLst/>
                <a:latin typeface="Arial" panose="020B0604020202020204" pitchFamily="34" charset="0"/>
              </a:rPr>
              <a:t> – For customer registration, login, browsing, and ordering.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Vendor Module</a:t>
            </a:r>
            <a:r>
              <a:rPr kumimoji="0" lang="en-US" altLang="en-US" sz="2000" b="0" i="0" u="none" strike="noStrike" cap="none" normalizeH="0" baseline="0" dirty="0">
                <a:ln>
                  <a:noFill/>
                </a:ln>
                <a:solidFill>
                  <a:schemeClr val="tx1"/>
                </a:solidFill>
                <a:effectLst/>
                <a:latin typeface="Arial" panose="020B0604020202020204" pitchFamily="34" charset="0"/>
              </a:rPr>
              <a:t> – For shop registration, listing products, and managing inventory.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Admin Module</a:t>
            </a:r>
            <a:r>
              <a:rPr kumimoji="0" lang="en-US" altLang="en-US" sz="2000" b="0" i="0" u="none" strike="noStrike" cap="none" normalizeH="0" baseline="0" dirty="0">
                <a:ln>
                  <a:noFill/>
                </a:ln>
                <a:solidFill>
                  <a:schemeClr val="tx1"/>
                </a:solidFill>
                <a:effectLst/>
                <a:latin typeface="Arial" panose="020B0604020202020204" pitchFamily="34" charset="0"/>
              </a:rPr>
              <a:t> – For system management, verifying shops, and monitoring activities.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Order Module</a:t>
            </a:r>
            <a:r>
              <a:rPr kumimoji="0" lang="en-US" altLang="en-US" sz="2000" b="0" i="0" u="none" strike="noStrike" cap="none" normalizeH="0" baseline="0" dirty="0">
                <a:ln>
                  <a:noFill/>
                </a:ln>
                <a:solidFill>
                  <a:schemeClr val="tx1"/>
                </a:solidFill>
                <a:effectLst/>
                <a:latin typeface="Arial" panose="020B0604020202020204" pitchFamily="34" charset="0"/>
              </a:rPr>
              <a:t> – For managing customer orders, delivery scheduling, and payment tracking.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Payment Module</a:t>
            </a:r>
            <a:r>
              <a:rPr kumimoji="0" lang="en-US" altLang="en-US" sz="2000" b="0" i="0" u="none" strike="noStrike" cap="none" normalizeH="0" baseline="0" dirty="0">
                <a:ln>
                  <a:noFill/>
                </a:ln>
                <a:solidFill>
                  <a:schemeClr val="tx1"/>
                </a:solidFill>
                <a:effectLst/>
                <a:latin typeface="Arial" panose="020B0604020202020204" pitchFamily="34" charset="0"/>
              </a:rPr>
              <a:t> – For secure online payments and transaction history.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Delivery Module</a:t>
            </a:r>
            <a:r>
              <a:rPr kumimoji="0" lang="en-US" altLang="en-US" sz="2000" b="0" i="0" u="none" strike="noStrike" cap="none" normalizeH="0" baseline="0" dirty="0">
                <a:ln>
                  <a:noFill/>
                </a:ln>
                <a:solidFill>
                  <a:schemeClr val="tx1"/>
                </a:solidFill>
                <a:effectLst/>
                <a:latin typeface="Arial" panose="020B0604020202020204" pitchFamily="34" charset="0"/>
              </a:rPr>
              <a:t> – For assigning and tracking delivery personnel.</a:t>
            </a:r>
          </a:p>
        </p:txBody>
      </p:sp>
    </p:spTree>
    <p:extLst>
      <p:ext uri="{BB962C8B-B14F-4D97-AF65-F5344CB8AC3E}">
        <p14:creationId xmlns:p14="http://schemas.microsoft.com/office/powerpoint/2010/main" val="1901711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CCB1B-05F0-878F-1900-431838F01724}"/>
              </a:ext>
            </a:extLst>
          </p:cNvPr>
          <p:cNvSpPr>
            <a:spLocks noGrp="1"/>
          </p:cNvSpPr>
          <p:nvPr>
            <p:ph type="title"/>
          </p:nvPr>
        </p:nvSpPr>
        <p:spPr/>
        <p:txBody>
          <a:bodyPr>
            <a:normAutofit/>
          </a:bodyPr>
          <a:lstStyle/>
          <a:p>
            <a:pPr algn="ctr"/>
            <a:r>
              <a:rPr lang="en-IN" sz="5400" dirty="0"/>
              <a:t>Module Description</a:t>
            </a:r>
          </a:p>
        </p:txBody>
      </p:sp>
      <p:sp>
        <p:nvSpPr>
          <p:cNvPr id="3" name="Content Placeholder 2">
            <a:extLst>
              <a:ext uri="{FF2B5EF4-FFF2-40B4-BE49-F238E27FC236}">
                <a16:creationId xmlns:a16="http://schemas.microsoft.com/office/drawing/2014/main" id="{14CC8FC1-F1CA-B1D4-D2D6-6676065E0D62}"/>
              </a:ext>
            </a:extLst>
          </p:cNvPr>
          <p:cNvSpPr>
            <a:spLocks noGrp="1"/>
          </p:cNvSpPr>
          <p:nvPr>
            <p:ph idx="1"/>
          </p:nvPr>
        </p:nvSpPr>
        <p:spPr/>
        <p:txBody>
          <a:bodyPr>
            <a:normAutofit fontScale="32500" lnSpcReduction="20000"/>
          </a:bodyPr>
          <a:lstStyle/>
          <a:p>
            <a:r>
              <a:rPr lang="en-US" sz="4300" b="1" dirty="0"/>
              <a:t>1. User Module:</a:t>
            </a:r>
            <a:br>
              <a:rPr lang="en-US" sz="4300" dirty="0"/>
            </a:br>
            <a:r>
              <a:rPr lang="en-US" sz="4300" dirty="0"/>
              <a:t>Allows customers to register, log in, browse produce, and place orders. Users can also view past orders and track ongoing deliveries.</a:t>
            </a:r>
          </a:p>
          <a:p>
            <a:r>
              <a:rPr lang="en-US" sz="4300" b="1" dirty="0"/>
              <a:t>2. Vendor Module:</a:t>
            </a:r>
            <a:br>
              <a:rPr lang="en-US" sz="4300" dirty="0"/>
            </a:br>
            <a:r>
              <a:rPr lang="en-US" sz="4300" dirty="0"/>
              <a:t>Vendors can add or update their products, manage prices, check incoming orders, and confirm dispatch.</a:t>
            </a:r>
          </a:p>
          <a:p>
            <a:r>
              <a:rPr lang="en-US" sz="4300" b="1" dirty="0"/>
              <a:t>3. Admin Module:</a:t>
            </a:r>
            <a:br>
              <a:rPr lang="en-US" sz="4300" dirty="0"/>
            </a:br>
            <a:r>
              <a:rPr lang="en-US" sz="4300" dirty="0"/>
              <a:t>Admin oversees platform activities, verifies vendor accounts, and handles reports or disputes.</a:t>
            </a:r>
          </a:p>
          <a:p>
            <a:r>
              <a:rPr lang="en-US" sz="4300" b="1" dirty="0"/>
              <a:t>4. Order Module:</a:t>
            </a:r>
            <a:br>
              <a:rPr lang="en-US" sz="4300" dirty="0"/>
            </a:br>
            <a:r>
              <a:rPr lang="en-US" sz="4300" dirty="0"/>
              <a:t>Handles order creation, order status updates (Pending, Confirmed, Delivered), and notifications.</a:t>
            </a:r>
          </a:p>
          <a:p>
            <a:r>
              <a:rPr lang="en-US" sz="4300" b="1" dirty="0"/>
              <a:t>5. Payment Module:</a:t>
            </a:r>
            <a:br>
              <a:rPr lang="en-US" sz="4300" dirty="0"/>
            </a:br>
            <a:r>
              <a:rPr lang="en-US" sz="4300" dirty="0"/>
              <a:t>Supports multiple payment methods such as UPI, Credit/Debit cards, and Cash on Delivery.</a:t>
            </a:r>
          </a:p>
          <a:p>
            <a:r>
              <a:rPr lang="en-US" sz="4300" b="1" dirty="0"/>
              <a:t>6. Delivery Module:</a:t>
            </a:r>
            <a:br>
              <a:rPr lang="en-US" sz="4300" dirty="0"/>
            </a:br>
            <a:r>
              <a:rPr lang="en-US" sz="4300" dirty="0"/>
              <a:t>Ensures the right delivery personnel are assigned and provides real-time tracking for customers.</a:t>
            </a:r>
          </a:p>
          <a:p>
            <a:endParaRPr lang="en-IN" dirty="0"/>
          </a:p>
        </p:txBody>
      </p:sp>
    </p:spTree>
    <p:extLst>
      <p:ext uri="{BB962C8B-B14F-4D97-AF65-F5344CB8AC3E}">
        <p14:creationId xmlns:p14="http://schemas.microsoft.com/office/powerpoint/2010/main" val="707811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279A9-2EB0-E590-A9A4-BEE22062FC7C}"/>
              </a:ext>
            </a:extLst>
          </p:cNvPr>
          <p:cNvSpPr>
            <a:spLocks noGrp="1"/>
          </p:cNvSpPr>
          <p:nvPr>
            <p:ph type="title"/>
          </p:nvPr>
        </p:nvSpPr>
        <p:spPr/>
        <p:txBody>
          <a:bodyPr>
            <a:normAutofit/>
          </a:bodyPr>
          <a:lstStyle/>
          <a:p>
            <a:pPr algn="ctr"/>
            <a:r>
              <a:rPr lang="en-IN" sz="5400" dirty="0"/>
              <a:t>Sample Output (Screenshot)</a:t>
            </a:r>
          </a:p>
        </p:txBody>
      </p:sp>
      <p:pic>
        <p:nvPicPr>
          <p:cNvPr id="4" name="Content Placeholder 3">
            <a:extLst>
              <a:ext uri="{FF2B5EF4-FFF2-40B4-BE49-F238E27FC236}">
                <a16:creationId xmlns:a16="http://schemas.microsoft.com/office/drawing/2014/main" id="{D9B61705-BEC4-2C52-E412-3DBD456007A5}"/>
              </a:ext>
            </a:extLst>
          </p:cNvPr>
          <p:cNvPicPr>
            <a:picLocks noGrp="1" noChangeAspect="1"/>
          </p:cNvPicPr>
          <p:nvPr>
            <p:ph idx="1"/>
          </p:nvPr>
        </p:nvPicPr>
        <p:blipFill>
          <a:blip r:embed="rId2"/>
          <a:stretch>
            <a:fillRect/>
          </a:stretch>
        </p:blipFill>
        <p:spPr>
          <a:xfrm>
            <a:off x="833779" y="1966365"/>
            <a:ext cx="3272177" cy="4191674"/>
          </a:xfrm>
          <a:prstGeom prst="rect">
            <a:avLst/>
          </a:prstGeom>
        </p:spPr>
      </p:pic>
      <p:pic>
        <p:nvPicPr>
          <p:cNvPr id="5" name="Picture 4">
            <a:extLst>
              <a:ext uri="{FF2B5EF4-FFF2-40B4-BE49-F238E27FC236}">
                <a16:creationId xmlns:a16="http://schemas.microsoft.com/office/drawing/2014/main" id="{E624BAF2-C907-93E4-421B-A4945D8CC300}"/>
              </a:ext>
            </a:extLst>
          </p:cNvPr>
          <p:cNvPicPr>
            <a:picLocks noChangeAspect="1"/>
          </p:cNvPicPr>
          <p:nvPr/>
        </p:nvPicPr>
        <p:blipFill>
          <a:blip r:embed="rId3"/>
          <a:stretch>
            <a:fillRect/>
          </a:stretch>
        </p:blipFill>
        <p:spPr>
          <a:xfrm>
            <a:off x="4413591" y="1966365"/>
            <a:ext cx="3322396" cy="4191674"/>
          </a:xfrm>
          <a:prstGeom prst="rect">
            <a:avLst/>
          </a:prstGeom>
        </p:spPr>
      </p:pic>
      <p:pic>
        <p:nvPicPr>
          <p:cNvPr id="6" name="Picture 5">
            <a:extLst>
              <a:ext uri="{FF2B5EF4-FFF2-40B4-BE49-F238E27FC236}">
                <a16:creationId xmlns:a16="http://schemas.microsoft.com/office/drawing/2014/main" id="{25CDF133-8435-A454-885A-44C68691F75E}"/>
              </a:ext>
            </a:extLst>
          </p:cNvPr>
          <p:cNvPicPr>
            <a:picLocks noChangeAspect="1"/>
          </p:cNvPicPr>
          <p:nvPr/>
        </p:nvPicPr>
        <p:blipFill>
          <a:blip r:embed="rId4"/>
          <a:stretch>
            <a:fillRect/>
          </a:stretch>
        </p:blipFill>
        <p:spPr>
          <a:xfrm>
            <a:off x="7978747" y="1966366"/>
            <a:ext cx="3562299" cy="4191674"/>
          </a:xfrm>
          <a:prstGeom prst="rect">
            <a:avLst/>
          </a:prstGeom>
        </p:spPr>
      </p:pic>
    </p:spTree>
    <p:extLst>
      <p:ext uri="{BB962C8B-B14F-4D97-AF65-F5344CB8AC3E}">
        <p14:creationId xmlns:p14="http://schemas.microsoft.com/office/powerpoint/2010/main" val="1408522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37DC-AFD6-B910-1DB5-1538D1AE8EB7}"/>
              </a:ext>
            </a:extLst>
          </p:cNvPr>
          <p:cNvSpPr>
            <a:spLocks noGrp="1"/>
          </p:cNvSpPr>
          <p:nvPr>
            <p:ph type="title"/>
          </p:nvPr>
        </p:nvSpPr>
        <p:spPr/>
        <p:txBody>
          <a:bodyPr>
            <a:normAutofit/>
          </a:bodyPr>
          <a:lstStyle/>
          <a:p>
            <a:pPr algn="ctr"/>
            <a:r>
              <a:rPr lang="en-IN" sz="5400" dirty="0"/>
              <a:t>Conclusion</a:t>
            </a:r>
          </a:p>
        </p:txBody>
      </p:sp>
      <p:sp>
        <p:nvSpPr>
          <p:cNvPr id="3" name="Content Placeholder 2">
            <a:extLst>
              <a:ext uri="{FF2B5EF4-FFF2-40B4-BE49-F238E27FC236}">
                <a16:creationId xmlns:a16="http://schemas.microsoft.com/office/drawing/2014/main" id="{673537C6-EDD5-F12F-9576-CE0EAC49C238}"/>
              </a:ext>
            </a:extLst>
          </p:cNvPr>
          <p:cNvSpPr>
            <a:spLocks noGrp="1"/>
          </p:cNvSpPr>
          <p:nvPr>
            <p:ph idx="1"/>
          </p:nvPr>
        </p:nvSpPr>
        <p:spPr/>
        <p:txBody>
          <a:bodyPr>
            <a:normAutofit/>
          </a:bodyPr>
          <a:lstStyle/>
          <a:p>
            <a:r>
              <a:rPr lang="en-US" dirty="0"/>
              <a:t>Fresh Cart bridges the gap between customers and local vendors by offering a reliable, efficient, and user-friendly online delivery platform. It encourages local economic growth, provides healthy and fresh food choices, and leverages technology to simplify daily grocery shopping. Through Fresh Cart, users experience convenience, transparency, and freshness all in one place.</a:t>
            </a:r>
            <a:endParaRPr lang="en-IN" dirty="0"/>
          </a:p>
        </p:txBody>
      </p:sp>
    </p:spTree>
    <p:extLst>
      <p:ext uri="{BB962C8B-B14F-4D97-AF65-F5344CB8AC3E}">
        <p14:creationId xmlns:p14="http://schemas.microsoft.com/office/powerpoint/2010/main" val="9436844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625</TotalTime>
  <Words>722</Words>
  <Application>Microsoft Office PowerPoint</Application>
  <PresentationFormat>Widescreen</PresentationFormat>
  <Paragraphs>102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Tw Cen MT</vt:lpstr>
      <vt:lpstr>Circuit</vt:lpstr>
      <vt:lpstr>ONLINE DELIVERY SYSTEM</vt:lpstr>
      <vt:lpstr>Abstract</vt:lpstr>
      <vt:lpstr>Existing System</vt:lpstr>
      <vt:lpstr>Proposed System</vt:lpstr>
      <vt:lpstr>Advantages </vt:lpstr>
      <vt:lpstr>Disadvantages</vt:lpstr>
      <vt:lpstr>Hardware Requirements</vt:lpstr>
      <vt:lpstr>Software Requirements</vt:lpstr>
      <vt:lpstr>Modules</vt:lpstr>
      <vt:lpstr>Module Description</vt:lpstr>
      <vt:lpstr>Sample Output (Screenshot)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garlapatiashokvishnu@gmail.com</dc:creator>
  <cp:lastModifiedBy>garlapatiashokvishnu@gmail.com</cp:lastModifiedBy>
  <cp:revision>2</cp:revision>
  <dcterms:created xsi:type="dcterms:W3CDTF">2025-10-28T17:58:08Z</dcterms:created>
  <dcterms:modified xsi:type="dcterms:W3CDTF">2025-10-29T04:23:25Z</dcterms:modified>
</cp:coreProperties>
</file>